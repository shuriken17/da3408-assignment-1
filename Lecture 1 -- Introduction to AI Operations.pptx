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6"/>
          <a:sy n="0" d="2"/>
        </p:scale>
        <p:origin x="1343316208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 /><Relationship Id="rId32" Type="http://schemas.openxmlformats.org/officeDocument/2006/relationships/tableStyles" Target="tableStyles.xml" /><Relationship Id="rId3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465330" name="PlaceHolder 1"/>
          <p:cNvSpPr>
            <a:spLocks noGrp="1"/>
          </p:cNvSpPr>
          <p:nvPr>
            <p:ph type="sldImg"/>
          </p:nvPr>
        </p:nvSpPr>
        <p:spPr bwMode="auto"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1625675" name="PlaceHolder 2"/>
          <p:cNvSpPr>
            <a:spLocks noGrp="1"/>
          </p:cNvSpPr>
          <p:nvPr>
            <p:ph type="body"/>
          </p:nvPr>
        </p:nvSpPr>
        <p:spPr bwMode="auto"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2000" b="0" u="none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0383763" name="PlaceHolder 3"/>
          <p:cNvSpPr>
            <a:spLocks noGrp="1"/>
          </p:cNvSpPr>
          <p:nvPr>
            <p:ph type="hdr"/>
          </p:nvPr>
        </p:nvSpPr>
        <p:spPr bwMode="auto"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21668554" name="PlaceHolder 4"/>
          <p:cNvSpPr>
            <a:spLocks noGrp="1"/>
          </p:cNvSpPr>
          <p:nvPr>
            <p:ph type="dt" idx="1"/>
          </p:nvPr>
        </p:nvSpPr>
        <p:spPr bwMode="auto"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1687421" name="PlaceHolder 5"/>
          <p:cNvSpPr>
            <a:spLocks noGrp="1"/>
          </p:cNvSpPr>
          <p:nvPr>
            <p:ph type="ftr" idx="2"/>
          </p:nvPr>
        </p:nvSpPr>
        <p:spPr bwMode="auto"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l">
              <a:buNone/>
              <a:defRPr/>
            </a:pPr>
            <a:r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8226977" name="PlaceHolder 6"/>
          <p:cNvSpPr>
            <a:spLocks noGrp="1"/>
          </p:cNvSpPr>
          <p:nvPr>
            <p:ph type="sldNum" idx="3"/>
          </p:nvPr>
        </p:nvSpPr>
        <p:spPr bwMode="auto"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  <a:defRPr/>
            </a:pPr>
            <a:fld id="{92662EEE-D285-40EE-9AC7-FC72F28C89BF}" type="slidenum">
              <a:rPr lang="en-US" sz="1400" b="0" u="none" strike="noStrike">
                <a:solidFill>
                  <a:srgbClr val="000000"/>
                </a:solidFill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158011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62222298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2475420" name="PlaceHolder 3"/>
          <p:cNvSpPr>
            <a:spLocks noGrp="1"/>
          </p:cNvSpPr>
          <p:nvPr>
            <p:ph type="sldNum" idx="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B517897-6681-40A2-B874-6C4D8184A52B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91137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5562470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352287" name="PlaceHolder 3"/>
          <p:cNvSpPr>
            <a:spLocks noGrp="1"/>
          </p:cNvSpPr>
          <p:nvPr>
            <p:ph type="sldNum" idx="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953F983-3829-4FE6-81FD-258F6391BBA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175834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00080080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3595991" name="PlaceHolder 3"/>
          <p:cNvSpPr>
            <a:spLocks noGrp="1"/>
          </p:cNvSpPr>
          <p:nvPr>
            <p:ph type="sldNum" idx="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C6F9956-A230-4D06-9EFC-60E5863976E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71536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88878306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0424888" name="PlaceHolder 3"/>
          <p:cNvSpPr>
            <a:spLocks noGrp="1"/>
          </p:cNvSpPr>
          <p:nvPr>
            <p:ph type="sldNum" idx="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D56FCB2-951F-4C16-95B2-0419266A5CDD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6176214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51602071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410458" name="PlaceHolder 3"/>
          <p:cNvSpPr>
            <a:spLocks noGrp="1"/>
          </p:cNvSpPr>
          <p:nvPr>
            <p:ph type="sldNum" idx="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A1FCF24-6F42-4303-820B-8C889CF82DA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67898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35777670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0014540" name="PlaceHolder 3"/>
          <p:cNvSpPr>
            <a:spLocks noGrp="1"/>
          </p:cNvSpPr>
          <p:nvPr>
            <p:ph type="sldNum" idx="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524F10A3-B80C-4047-BABB-281BE00DD32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6123524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11577380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2677185" name="PlaceHolder 3"/>
          <p:cNvSpPr>
            <a:spLocks noGrp="1"/>
          </p:cNvSpPr>
          <p:nvPr>
            <p:ph type="sldNum" idx="1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1C26697-B830-4017-AD5B-AFE11C7DD90A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334569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22320494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0976690" name="PlaceHolder 3"/>
          <p:cNvSpPr>
            <a:spLocks noGrp="1"/>
          </p:cNvSpPr>
          <p:nvPr>
            <p:ph type="sldNum" idx="1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FDE4FEA-4603-46F0-B847-5AF834900E85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21653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53013672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767718" name="PlaceHolder 3"/>
          <p:cNvSpPr>
            <a:spLocks noGrp="1"/>
          </p:cNvSpPr>
          <p:nvPr>
            <p:ph type="sldNum" idx="1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F05F7C5-4A3E-4A0D-BF27-5B40692503C3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134446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2121497005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992615" name="PlaceHolder 3"/>
          <p:cNvSpPr>
            <a:spLocks noGrp="1"/>
          </p:cNvSpPr>
          <p:nvPr>
            <p:ph type="sldNum" idx="1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8A0EB361-F89F-4B84-8C69-4A7D551888E8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271044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72900553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960689" name="PlaceHolder 3"/>
          <p:cNvSpPr>
            <a:spLocks noGrp="1"/>
          </p:cNvSpPr>
          <p:nvPr>
            <p:ph type="sldNum" idx="1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B124199B-B8C1-401F-A6BC-C9E86A62E481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938843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013156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262084" name="PlaceHolder 3"/>
          <p:cNvSpPr>
            <a:spLocks noGrp="1"/>
          </p:cNvSpPr>
          <p:nvPr>
            <p:ph type="sldNum" idx="1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9F4DB46-D54F-4F1D-AB4A-8822D3EAAD0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37787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68597973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836255" name="PlaceHolder 3"/>
          <p:cNvSpPr>
            <a:spLocks noGrp="1"/>
          </p:cNvSpPr>
          <p:nvPr>
            <p:ph type="sldNum" idx="1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EF6D5C5A-0739-4C9C-96C8-23ECEF0C1267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422488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02757744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1143696" name="PlaceHolder 3"/>
          <p:cNvSpPr>
            <a:spLocks noGrp="1"/>
          </p:cNvSpPr>
          <p:nvPr>
            <p:ph type="sldNum" idx="1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016F8078-7F1F-44A0-97FF-EE2315DF5775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30907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077232489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824957" name="PlaceHolder 3"/>
          <p:cNvSpPr>
            <a:spLocks noGrp="1"/>
          </p:cNvSpPr>
          <p:nvPr>
            <p:ph type="sldNum" idx="1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B1EB2F8-9B14-41BC-B2F2-EFA0787ED5F5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4356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391168433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9671524" name="PlaceHolder 3"/>
          <p:cNvSpPr>
            <a:spLocks noGrp="1"/>
          </p:cNvSpPr>
          <p:nvPr>
            <p:ph type="sldNum" idx="1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D5F1645-30C8-443B-BAB4-2EFC32B88165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9468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50916306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8475405" name="PlaceHolder 3"/>
          <p:cNvSpPr>
            <a:spLocks noGrp="1"/>
          </p:cNvSpPr>
          <p:nvPr>
            <p:ph type="sldNum" idx="20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2A3EA24C-26CF-4457-993F-9BD3B4B521D4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820015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44696912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4859909" name="PlaceHolder 3"/>
          <p:cNvSpPr>
            <a:spLocks noGrp="1"/>
          </p:cNvSpPr>
          <p:nvPr>
            <p:ph type="sldNum" idx="21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EB79F5B-5050-4E3E-AAB6-1C9896076DA4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57220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441096114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918860" name="PlaceHolder 3"/>
          <p:cNvSpPr>
            <a:spLocks noGrp="1"/>
          </p:cNvSpPr>
          <p:nvPr>
            <p:ph type="sldNum" idx="22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D497704-9876-4C5D-B14F-9D4E33B89FBF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36695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75565995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251614" name="PlaceHolder 3"/>
          <p:cNvSpPr>
            <a:spLocks noGrp="1"/>
          </p:cNvSpPr>
          <p:nvPr>
            <p:ph type="sldNum" idx="23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1209138-1931-4C32-A8B0-67B9D086F420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28935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80915280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42826" name="PlaceHolder 3"/>
          <p:cNvSpPr>
            <a:spLocks noGrp="1"/>
          </p:cNvSpPr>
          <p:nvPr>
            <p:ph type="sldNum" idx="24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C839D2C8-CB29-4F17-A5BF-559728B1BB4F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23324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11644968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691452" name="PlaceHolder 3"/>
          <p:cNvSpPr>
            <a:spLocks noGrp="1"/>
          </p:cNvSpPr>
          <p:nvPr>
            <p:ph type="sldNum" idx="25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A77202D2-D4A5-4D6B-AF9F-EACE60404DB9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265602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983680331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5685960" name="PlaceHolder 3"/>
          <p:cNvSpPr>
            <a:spLocks noGrp="1"/>
          </p:cNvSpPr>
          <p:nvPr>
            <p:ph type="sldNum" idx="26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499B5E88-5F98-4C7B-AFC4-2E6DDBFF109A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43906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956777408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0682040" name="PlaceHolder 3"/>
          <p:cNvSpPr>
            <a:spLocks noGrp="1"/>
          </p:cNvSpPr>
          <p:nvPr>
            <p:ph type="sldNum" idx="27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FE042032-B2FF-4B29-9B39-D29C21B6860B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199101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643289636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1224839" name="PlaceHolder 3"/>
          <p:cNvSpPr>
            <a:spLocks noGrp="1"/>
          </p:cNvSpPr>
          <p:nvPr>
            <p:ph type="sldNum" idx="28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39B377D1-5C1A-435B-9CE8-01A990D1EB4C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4842027" name="PlaceHolder 1"/>
          <p:cNvSpPr>
            <a:spLocks noGrp="1"/>
          </p:cNvSpPr>
          <p:nvPr>
            <p:ph type="sldImg"/>
          </p:nvPr>
        </p:nvSpPr>
        <p:spPr bwMode="auto">
          <a:xfrm>
            <a:off x="685800" y="1143000"/>
            <a:ext cx="5486039" cy="3085920"/>
          </a:xfrm>
          <a:prstGeom prst="rect">
            <a:avLst/>
          </a:prstGeom>
          <a:ln w="0">
            <a:noFill/>
          </a:ln>
        </p:spPr>
      </p:sp>
      <p:sp>
        <p:nvSpPr>
          <p:cNvPr id="1820263860" name="PlaceHolder 2"/>
          <p:cNvSpPr>
            <a:spLocks noGrp="1"/>
          </p:cNvSpPr>
          <p:nvPr>
            <p:ph type="body"/>
          </p:nvPr>
        </p:nvSpPr>
        <p:spPr bwMode="auto">
          <a:xfrm>
            <a:off x="685800" y="4400640"/>
            <a:ext cx="5486039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6130" name="PlaceHolder 3"/>
          <p:cNvSpPr>
            <a:spLocks noGrp="1"/>
          </p:cNvSpPr>
          <p:nvPr>
            <p:ph type="sldNum" idx="29"/>
          </p:nvPr>
        </p:nvSpPr>
        <p:spPr bwMode="auto"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defRPr/>
            </a:pPr>
            <a:fld id="{199A953E-2D35-406B-B072-6D5703E1E3AC}" type="slidenum">
              <a:rPr lang="en-US" sz="1200" b="0" u="none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DEFAU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977238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latin typeface="Calibri"/>
              </a:defRPr>
            </a:lvl1pPr>
          </a:lstStyle>
          <a:p>
            <a:pPr indent="0" algn="l">
              <a:buNone/>
              <a:defRPr/>
            </a:pPr>
            <a:r>
              <a:rPr lang="en-US" sz="1800" b="0" u="none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7909114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3200" b="0" u="none" strike="noStrike">
                <a:solidFill>
                  <a:schemeClr val="dk1"/>
                </a:solidFill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400" b="0" u="none" strike="noStrike">
                <a:solidFill>
                  <a:schemeClr val="dk1"/>
                </a:solidFill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lang="en-US" sz="2000" b="0" u="none" strike="noStrike">
                <a:solidFill>
                  <a:schemeClr val="dk1"/>
                </a:solidFill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3200" b="0" u="none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400" b="0" u="none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en-US" sz="2000" b="0" u="none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B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66327" name="Shape 0"/>
          <p:cNvSpPr/>
          <p:nvPr/>
        </p:nvSpPr>
        <p:spPr bwMode="auto">
          <a:xfrm>
            <a:off x="0" y="0"/>
            <a:ext cx="12188520" cy="6857640"/>
          </a:xfrm>
          <a:prstGeom prst="rect">
            <a:avLst/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6310154" name="Shape 1"/>
          <p:cNvSpPr/>
          <p:nvPr/>
        </p:nvSpPr>
        <p:spPr bwMode="auto">
          <a:xfrm>
            <a:off x="8961120" y="-2011680"/>
            <a:ext cx="5486039" cy="5486039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56952" name="Shape 2"/>
          <p:cNvSpPr/>
          <p:nvPr/>
        </p:nvSpPr>
        <p:spPr bwMode="auto">
          <a:xfrm>
            <a:off x="10332720" y="4206240"/>
            <a:ext cx="3840120" cy="3840120"/>
          </a:xfrm>
          <a:prstGeom prst="ellipse">
            <a:avLst/>
          </a:prstGeom>
          <a:solidFill>
            <a:srgbClr val="5FD3C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6231315" name="Text 3"/>
          <p:cNvSpPr/>
          <p:nvPr/>
        </p:nvSpPr>
        <p:spPr bwMode="auto">
          <a:xfrm>
            <a:off x="822960" y="137160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 spc="300">
                <a:solidFill>
                  <a:srgbClr val="5FD3C4"/>
                </a:solidFill>
                <a:latin typeface="Calibri"/>
                <a:ea typeface="Calibri"/>
              </a:rPr>
              <a:t>AI OPERATIONS — MODULE 1</a:t>
            </a:r>
            <a:endParaRPr lang="en-US" sz="15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60125" name="Text 4"/>
          <p:cNvSpPr/>
          <p:nvPr/>
        </p:nvSpPr>
        <p:spPr bwMode="auto">
          <a:xfrm>
            <a:off x="822960" y="1828800"/>
            <a:ext cx="98751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000" b="1" u="none" strike="noStrike">
                <a:solidFill>
                  <a:srgbClr val="FFFFFF"/>
                </a:solidFill>
                <a:latin typeface="Cambria"/>
                <a:ea typeface="Cambria"/>
              </a:rPr>
              <a:t>Experiment Management &amp; Reproducibility</a:t>
            </a:r>
            <a:endParaRPr lang="en-US" sz="4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9934353" name="Text 5"/>
          <p:cNvSpPr/>
          <p:nvPr/>
        </p:nvSpPr>
        <p:spPr bwMode="auto">
          <a:xfrm>
            <a:off x="822960" y="356616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0" u="none" strike="noStrike">
                <a:solidFill>
                  <a:srgbClr val="C9D8E8"/>
                </a:solidFill>
                <a:latin typeface="Calibri"/>
                <a:ea typeface="Calibri"/>
              </a:rPr>
              <a:t>Lectures 1–3  |  Hidden Technical Debt • MLflow Tracking • DVC &amp; Model Registry</a:t>
            </a: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7383215" name="Shape 6"/>
          <p:cNvSpPr/>
          <p:nvPr/>
        </p:nvSpPr>
        <p:spPr bwMode="auto">
          <a:xfrm>
            <a:off x="822960" y="4617720"/>
            <a:ext cx="2011680" cy="360"/>
          </a:xfrm>
          <a:prstGeom prst="line">
            <a:avLst/>
          </a:prstGeom>
          <a:ln w="38100">
            <a:solidFill>
              <a:srgbClr val="5FD3C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803850" name="Text 7"/>
          <p:cNvSpPr/>
          <p:nvPr/>
        </p:nvSpPr>
        <p:spPr bwMode="auto">
          <a:xfrm>
            <a:off x="822960" y="612648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8FA3BC"/>
                </a:solidFill>
                <a:latin typeface="Calibri"/>
                <a:ea typeface="Calibri"/>
              </a:rPr>
              <a:t>AI Operations (AIOps)  |  Third-Year Data Science  |  Instructor Slide Deck</a:t>
            </a:r>
            <a:endParaRPr lang="en-US" sz="12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6540854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MODULE ROADMAP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713938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Three Lectures, One Reproducibility Protocol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8790252" name="Shape 2"/>
          <p:cNvSpPr/>
          <p:nvPr/>
        </p:nvSpPr>
        <p:spPr bwMode="auto">
          <a:xfrm>
            <a:off x="548640" y="2103120"/>
            <a:ext cx="3517200" cy="329148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240796" name="Text 3"/>
          <p:cNvSpPr/>
          <p:nvPr/>
        </p:nvSpPr>
        <p:spPr bwMode="auto">
          <a:xfrm>
            <a:off x="68580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1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9681903" name="Text 4"/>
          <p:cNvSpPr/>
          <p:nvPr/>
        </p:nvSpPr>
        <p:spPr bwMode="auto">
          <a:xfrm>
            <a:off x="685800" y="2880360"/>
            <a:ext cx="324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Lecture 1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0886547" name="Text 5"/>
          <p:cNvSpPr/>
          <p:nvPr/>
        </p:nvSpPr>
        <p:spPr bwMode="auto">
          <a:xfrm>
            <a:off x="685800" y="3657600"/>
            <a:ext cx="32428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MLOp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s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Found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ations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&amp;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Techn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ical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Debt.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Why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AIOps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exists;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Git +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Cond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a/Ma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mba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enviro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nmen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ts.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747389" name="Text 6"/>
          <p:cNvSpPr/>
          <p:nvPr/>
        </p:nvSpPr>
        <p:spPr bwMode="auto">
          <a:xfrm>
            <a:off x="407520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9676712" name="Shape 7"/>
          <p:cNvSpPr/>
          <p:nvPr/>
        </p:nvSpPr>
        <p:spPr bwMode="auto">
          <a:xfrm>
            <a:off x="4322160" y="2103120"/>
            <a:ext cx="3517200" cy="3291480"/>
          </a:xfrm>
          <a:prstGeom prst="roundRect">
            <a:avLst>
              <a:gd name="adj" fmla="val 222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2758856" name="Text 8"/>
          <p:cNvSpPr/>
          <p:nvPr/>
        </p:nvSpPr>
        <p:spPr bwMode="auto">
          <a:xfrm>
            <a:off x="445932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2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1008897" name="Text 9"/>
          <p:cNvSpPr/>
          <p:nvPr/>
        </p:nvSpPr>
        <p:spPr bwMode="auto">
          <a:xfrm>
            <a:off x="4459320" y="2880360"/>
            <a:ext cx="324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Lecture 2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834863" name="Text 10"/>
          <p:cNvSpPr/>
          <p:nvPr/>
        </p:nvSpPr>
        <p:spPr bwMode="auto">
          <a:xfrm>
            <a:off x="4459320" y="3657600"/>
            <a:ext cx="32428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Experiment Tracking with MLflow.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Logging params, metrics, artifacts;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comparing runs.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4404576" name="Text 11"/>
          <p:cNvSpPr/>
          <p:nvPr/>
        </p:nvSpPr>
        <p:spPr bwMode="auto">
          <a:xfrm>
            <a:off x="784872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691222" name="Shape 12"/>
          <p:cNvSpPr/>
          <p:nvPr/>
        </p:nvSpPr>
        <p:spPr bwMode="auto">
          <a:xfrm>
            <a:off x="8095320" y="2103120"/>
            <a:ext cx="3517200" cy="329148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0323635" name="Text 13"/>
          <p:cNvSpPr/>
          <p:nvPr/>
        </p:nvSpPr>
        <p:spPr bwMode="auto">
          <a:xfrm>
            <a:off x="823248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3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258138" name="Text 14"/>
          <p:cNvSpPr/>
          <p:nvPr/>
        </p:nvSpPr>
        <p:spPr bwMode="auto">
          <a:xfrm>
            <a:off x="8232480" y="2880360"/>
            <a:ext cx="3242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Lecture 3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0410968" name="Text 15"/>
          <p:cNvSpPr/>
          <p:nvPr/>
        </p:nvSpPr>
        <p:spPr bwMode="auto">
          <a:xfrm>
            <a:off x="8232480" y="3657600"/>
            <a:ext cx="32428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Reproducibility. DVC data versioning + MLflow Model Registry; audit case studies.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B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016309" name="Shape 0"/>
          <p:cNvSpPr/>
          <p:nvPr/>
        </p:nvSpPr>
        <p:spPr bwMode="auto">
          <a:xfrm>
            <a:off x="0" y="0"/>
            <a:ext cx="4205880" cy="6857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1825" name="Shape 1"/>
          <p:cNvSpPr/>
          <p:nvPr/>
        </p:nvSpPr>
        <p:spPr bwMode="auto">
          <a:xfrm>
            <a:off x="-1097280" y="4846320"/>
            <a:ext cx="3657240" cy="3657240"/>
          </a:xfrm>
          <a:prstGeom prst="ellipse">
            <a:avLst/>
          </a:prstGeom>
          <a:solidFill>
            <a:srgbClr val="1C7293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1907978" name="Text 2"/>
          <p:cNvSpPr/>
          <p:nvPr/>
        </p:nvSpPr>
        <p:spPr bwMode="auto">
          <a:xfrm>
            <a:off x="548640" y="640080"/>
            <a:ext cx="3108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6600" b="1" u="none" strike="noStrike">
                <a:solidFill>
                  <a:srgbClr val="3E6FA0"/>
                </a:solidFill>
                <a:latin typeface="Cambria"/>
                <a:ea typeface="Cambria"/>
              </a:rPr>
              <a:t>01</a:t>
            </a:r>
            <a:endParaRPr lang="en-US" sz="6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593945" name="Text 3"/>
          <p:cNvSpPr/>
          <p:nvPr/>
        </p:nvSpPr>
        <p:spPr bwMode="auto">
          <a:xfrm>
            <a:off x="548640" y="2377440"/>
            <a:ext cx="32914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MLOps Foundations &amp; Technical Debt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2548101" name="Text 4"/>
          <p:cNvSpPr/>
          <p:nvPr/>
        </p:nvSpPr>
        <p:spPr bwMode="auto">
          <a:xfrm>
            <a:off x="4846320" y="2194560"/>
            <a:ext cx="65833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The Production Gap: why model.fit() is 5–10% of real ML engineering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Six sources of hidden technical debt in ML systems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MLOps vs. DevOps: data gravity &amp; model decay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Case study: “It worked on my machine”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Hands-on: Git + Conda/Mamba reproducible environment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9785906" name="Text 5"/>
          <p:cNvSpPr/>
          <p:nvPr/>
        </p:nvSpPr>
        <p:spPr bwMode="auto">
          <a:xfrm>
            <a:off x="4846320" y="1417320"/>
            <a:ext cx="548603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>
                <a:solidFill>
                  <a:srgbClr val="5FD3C4"/>
                </a:solidFill>
                <a:latin typeface="Calibri"/>
                <a:ea typeface="Calibri"/>
              </a:rPr>
              <a:t>What this session covers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5572712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1.1 THE PRODUCTION GAP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6545277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Most of ML Engineering Happens After model.fit()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86573" name="Shape 2"/>
          <p:cNvSpPr/>
          <p:nvPr/>
        </p:nvSpPr>
        <p:spPr bwMode="auto">
          <a:xfrm>
            <a:off x="548640" y="1645920"/>
            <a:ext cx="3443760" cy="2377080"/>
          </a:xfrm>
          <a:prstGeom prst="roundRect">
            <a:avLst>
              <a:gd name="adj" fmla="val 3077"/>
            </a:avLst>
          </a:prstGeom>
          <a:solidFill>
            <a:srgbClr val="0F2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938914" name="Text 3"/>
          <p:cNvSpPr/>
          <p:nvPr/>
        </p:nvSpPr>
        <p:spPr bwMode="auto">
          <a:xfrm>
            <a:off x="548640" y="1828800"/>
            <a:ext cx="3443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000" b="1" u="none" strike="noStrike">
                <a:solidFill>
                  <a:srgbClr val="5FD3C4"/>
                </a:solidFill>
                <a:latin typeface="Cambria"/>
                <a:ea typeface="Cambria"/>
              </a:rPr>
              <a:t>~5–10%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4618218" name="Text 4"/>
          <p:cNvSpPr/>
          <p:nvPr/>
        </p:nvSpPr>
        <p:spPr bwMode="auto">
          <a:xfrm>
            <a:off x="731520" y="2834640"/>
            <a:ext cx="3078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0" u="none" strike="noStrike">
                <a:solidFill>
                  <a:srgbClr val="F4F7FA"/>
                </a:solidFill>
                <a:latin typeface="Calibri"/>
                <a:ea typeface="Calibri"/>
              </a:rPr>
              <a:t>of real-world ML engineering effort is model architecture &amp; training</a:t>
            </a:r>
            <a:endParaRPr lang="en-US" sz="12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4410188" name="Shape 5"/>
          <p:cNvSpPr/>
          <p:nvPr/>
        </p:nvSpPr>
        <p:spPr bwMode="auto">
          <a:xfrm>
            <a:off x="4358520" y="1645920"/>
            <a:ext cx="3443760" cy="2377080"/>
          </a:xfrm>
          <a:prstGeom prst="roundRect">
            <a:avLst>
              <a:gd name="adj" fmla="val 3077"/>
            </a:avLst>
          </a:prstGeom>
          <a:solidFill>
            <a:srgbClr val="0F2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01747" name="Text 6"/>
          <p:cNvSpPr/>
          <p:nvPr/>
        </p:nvSpPr>
        <p:spPr bwMode="auto">
          <a:xfrm>
            <a:off x="4358520" y="1828800"/>
            <a:ext cx="3443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000" b="1" u="none" strike="noStrike">
                <a:solidFill>
                  <a:srgbClr val="5FD3C4"/>
                </a:solidFill>
                <a:latin typeface="Cambria"/>
                <a:ea typeface="Cambria"/>
              </a:rPr>
              <a:t>~90%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2080064" name="Text 7"/>
          <p:cNvSpPr/>
          <p:nvPr/>
        </p:nvSpPr>
        <p:spPr bwMode="auto">
          <a:xfrm>
            <a:off x="4541400" y="2834640"/>
            <a:ext cx="3078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0" u="none" strike="noStrike">
                <a:solidFill>
                  <a:srgbClr val="F4F7FA"/>
                </a:solidFill>
                <a:latin typeface="Calibri"/>
                <a:ea typeface="Calibri"/>
              </a:rPr>
              <a:t>is data pipelines, serving, monitoring, retraining, rollback &amp; governance</a:t>
            </a:r>
            <a:endParaRPr lang="en-US" sz="12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6581499" name="Shape 8"/>
          <p:cNvSpPr/>
          <p:nvPr/>
        </p:nvSpPr>
        <p:spPr bwMode="auto">
          <a:xfrm>
            <a:off x="8168760" y="1645920"/>
            <a:ext cx="3443760" cy="2377080"/>
          </a:xfrm>
          <a:prstGeom prst="roundRect">
            <a:avLst>
              <a:gd name="adj" fmla="val 3077"/>
            </a:avLst>
          </a:prstGeom>
          <a:solidFill>
            <a:srgbClr val="0F27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2546615" name="Text 9"/>
          <p:cNvSpPr/>
          <p:nvPr/>
        </p:nvSpPr>
        <p:spPr bwMode="auto">
          <a:xfrm>
            <a:off x="8168760" y="1828800"/>
            <a:ext cx="34437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4000" b="1" u="none" strike="noStrike">
                <a:solidFill>
                  <a:srgbClr val="5FD3C4"/>
                </a:solidFill>
                <a:latin typeface="Cambria"/>
                <a:ea typeface="Cambria"/>
              </a:rPr>
              <a:t>0</a:t>
            </a:r>
            <a:endParaRPr lang="en-US" sz="40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1536717" name="Text 10"/>
          <p:cNvSpPr/>
          <p:nvPr/>
        </p:nvSpPr>
        <p:spPr bwMode="auto">
          <a:xfrm>
            <a:off x="8351640" y="2834640"/>
            <a:ext cx="3078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50" b="0" u="none" strike="noStrike">
                <a:solidFill>
                  <a:srgbClr val="F4F7FA"/>
                </a:solidFill>
                <a:latin typeface="Calibri"/>
                <a:ea typeface="Calibri"/>
              </a:rPr>
              <a:t>production ML systems that survive on notebook code alone</a:t>
            </a:r>
            <a:endParaRPr lang="en-US" sz="12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777865" name="Text 11"/>
          <p:cNvSpPr/>
          <p:nvPr/>
        </p:nvSpPr>
        <p:spPr bwMode="auto">
          <a:xfrm>
            <a:off x="548640" y="4389120"/>
            <a:ext cx="110638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600" b="0" i="1" u="none" strike="noStrike">
                <a:solidFill>
                  <a:srgbClr val="12233A"/>
                </a:solidFill>
                <a:latin typeface="Calibri"/>
                <a:ea typeface="Calibri"/>
              </a:rPr>
              <a:t>Discussion prompt: “You trained a 96%-accuracy classifier for your course project. What would have to be true for a hospital to actually use it on real patients tomorrow?”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77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746901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1.2 HIDDEN TECHNICAL DEBT (1 OF 2)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9509518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Three Sources of ML Technical Debt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229265" name="Shape 2"/>
          <p:cNvSpPr/>
          <p:nvPr/>
        </p:nvSpPr>
        <p:spPr bwMode="auto">
          <a:xfrm>
            <a:off x="54864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558252" name="Shape 3"/>
          <p:cNvSpPr/>
          <p:nvPr/>
        </p:nvSpPr>
        <p:spPr bwMode="auto">
          <a:xfrm>
            <a:off x="82296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559823" name="Text 4"/>
          <p:cNvSpPr/>
          <p:nvPr/>
        </p:nvSpPr>
        <p:spPr bwMode="auto">
          <a:xfrm>
            <a:off x="82296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693032" name="Text 5"/>
          <p:cNvSpPr/>
          <p:nvPr/>
        </p:nvSpPr>
        <p:spPr bwMode="auto">
          <a:xfrm>
            <a:off x="77724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Boundary Erosion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465666" name="Text 6"/>
          <p:cNvSpPr/>
          <p:nvPr/>
        </p:nvSpPr>
        <p:spPr bwMode="auto">
          <a:xfrm>
            <a:off x="77724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Statistical and rule-based logic mix together, so the clean interface boundaries used in classical software engineering break down.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779880" name="Shape 7"/>
          <p:cNvSpPr/>
          <p:nvPr/>
        </p:nvSpPr>
        <p:spPr bwMode="auto">
          <a:xfrm>
            <a:off x="434340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8993135" name="Shape 8"/>
          <p:cNvSpPr/>
          <p:nvPr/>
        </p:nvSpPr>
        <p:spPr bwMode="auto">
          <a:xfrm>
            <a:off x="461772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561746" name="Text 9"/>
          <p:cNvSpPr/>
          <p:nvPr/>
        </p:nvSpPr>
        <p:spPr bwMode="auto">
          <a:xfrm>
            <a:off x="461772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009719" name="Text 10"/>
          <p:cNvSpPr/>
          <p:nvPr/>
        </p:nvSpPr>
        <p:spPr bwMode="auto">
          <a:xfrm>
            <a:off x="457200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Entanglement (CACE)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3231026" name="Text 11"/>
          <p:cNvSpPr/>
          <p:nvPr/>
        </p:nvSpPr>
        <p:spPr bwMode="auto">
          <a:xfrm>
            <a:off x="457200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“Changing Anything Changes Everything.” Altering one feature or hyperparameter can silently shift the whole model's behaviour.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877783" name="Shape 12"/>
          <p:cNvSpPr/>
          <p:nvPr/>
        </p:nvSpPr>
        <p:spPr bwMode="auto">
          <a:xfrm>
            <a:off x="813816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157007" name="Shape 13"/>
          <p:cNvSpPr/>
          <p:nvPr/>
        </p:nvSpPr>
        <p:spPr bwMode="auto">
          <a:xfrm>
            <a:off x="841248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142801" name="Text 14"/>
          <p:cNvSpPr/>
          <p:nvPr/>
        </p:nvSpPr>
        <p:spPr bwMode="auto">
          <a:xfrm>
            <a:off x="841248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823863" name="Text 15"/>
          <p:cNvSpPr/>
          <p:nvPr/>
        </p:nvSpPr>
        <p:spPr bwMode="auto">
          <a:xfrm>
            <a:off x="836676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Hidden Feedback Loops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7207432" name="Text 16"/>
          <p:cNvSpPr/>
          <p:nvPr/>
        </p:nvSpPr>
        <p:spPr bwMode="auto">
          <a:xfrm>
            <a:off x="836676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A model's own predictions influence the future data it is trained on — e.g. a recommender shaping the behaviour it later learns from.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22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55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55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9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65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7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99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56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00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323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15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142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2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20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223453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1.2 HIDDEN TECHNICAL DEBT (2 OF 2)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2571233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Three More Sources of ML Technical Debt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5054021" name="Shape 2"/>
          <p:cNvSpPr/>
          <p:nvPr/>
        </p:nvSpPr>
        <p:spPr bwMode="auto">
          <a:xfrm>
            <a:off x="54864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4257870" name="Shape 3"/>
          <p:cNvSpPr/>
          <p:nvPr/>
        </p:nvSpPr>
        <p:spPr bwMode="auto">
          <a:xfrm>
            <a:off x="82296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5937503" name="Text 4"/>
          <p:cNvSpPr/>
          <p:nvPr/>
        </p:nvSpPr>
        <p:spPr bwMode="auto">
          <a:xfrm>
            <a:off x="82296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652945" name="Text 5"/>
          <p:cNvSpPr/>
          <p:nvPr/>
        </p:nvSpPr>
        <p:spPr bwMode="auto">
          <a:xfrm>
            <a:off x="77724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Undeclared Consumers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2104046" name="Text 6"/>
          <p:cNvSpPr/>
          <p:nvPr/>
        </p:nvSpPr>
        <p:spPr bwMode="auto">
          <a:xfrm>
            <a:off x="77724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Other teams silently consume a model's output via a shared table, creating invisible dependencies that block safe changes.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4701185" name="Shape 7"/>
          <p:cNvSpPr/>
          <p:nvPr/>
        </p:nvSpPr>
        <p:spPr bwMode="auto">
          <a:xfrm>
            <a:off x="434340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455879" name="Shape 8"/>
          <p:cNvSpPr/>
          <p:nvPr/>
        </p:nvSpPr>
        <p:spPr bwMode="auto">
          <a:xfrm>
            <a:off x="461772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250429" name="Text 9"/>
          <p:cNvSpPr/>
          <p:nvPr/>
        </p:nvSpPr>
        <p:spPr bwMode="auto">
          <a:xfrm>
            <a:off x="461772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7971084" name="Text 10"/>
          <p:cNvSpPr/>
          <p:nvPr/>
        </p:nvSpPr>
        <p:spPr bwMode="auto">
          <a:xfrm>
            <a:off x="457200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Unstable Data Dependencies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759621" name="Text 11"/>
          <p:cNvSpPr/>
          <p:nvPr/>
        </p:nvSpPr>
        <p:spPr bwMode="auto">
          <a:xfrm>
            <a:off x="457200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Upstream data whose meaning or distribution changes without warning — more dangerous and harder to detect than unstable code.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676113" name="Shape 12"/>
          <p:cNvSpPr/>
          <p:nvPr/>
        </p:nvSpPr>
        <p:spPr bwMode="auto">
          <a:xfrm>
            <a:off x="813816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5675521" name="Shape 13"/>
          <p:cNvSpPr/>
          <p:nvPr/>
        </p:nvSpPr>
        <p:spPr bwMode="auto">
          <a:xfrm>
            <a:off x="841248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7465409" name="Text 14"/>
          <p:cNvSpPr/>
          <p:nvPr/>
        </p:nvSpPr>
        <p:spPr bwMode="auto">
          <a:xfrm>
            <a:off x="841248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1440842" name="Text 15"/>
          <p:cNvSpPr/>
          <p:nvPr/>
        </p:nvSpPr>
        <p:spPr bwMode="auto">
          <a:xfrm>
            <a:off x="836676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Configuration &amp; Glue-Code Debt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2650783" name="Text 16"/>
          <p:cNvSpPr/>
          <p:nvPr/>
        </p:nvSpPr>
        <p:spPr bwMode="auto">
          <a:xfrm>
            <a:off x="836676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Hyperparameters scattered across scripts with no single source of truth; systems evolve into tangled “pipeline jungles.”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70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45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825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97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75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67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67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46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44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265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343914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1.3 MLOPS VS. DEVOPS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1082385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Same Discipline, Different Failure Modes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59265188" name="Table 0"/>
          <p:cNvGraphicFramePr>
            <a:graphicFrameLocks xmlns:a="http://schemas.openxmlformats.org/drawingml/2006/main"/>
          </p:cNvGraphicFramePr>
          <p:nvPr/>
        </p:nvGraphicFramePr>
        <p:xfrm rot="0">
          <a:off x="548640" y="1554480"/>
          <a:ext cx="11063880" cy="39682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377440"/>
                <a:gridCol w="4114800"/>
                <a:gridCol w="4572000"/>
              </a:tblGrid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Dimension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DevOps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MLOps / AIOps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What is versioned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Code only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Code + Data + Model + Environment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Testing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Deterministic unit/integration tests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Statistical validation; data validation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What degrades in prod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Rarely, unless code changes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Model decay even with unchanged code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Primary failure mode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Code bugs, downtime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Silent quality degradation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Rollback unit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A code deployment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Code + data + model + config bundle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Core new discipline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CI / CD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40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CI / CD / CT (Continuous Training)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225261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1.3 DATA GRAVITY &amp; MODEL DECAY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344063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Two Ideas That Shape the Rest of the Course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985127" name="Shape 2"/>
          <p:cNvSpPr/>
          <p:nvPr/>
        </p:nvSpPr>
        <p:spPr bwMode="auto">
          <a:xfrm>
            <a:off x="548640" y="1463040"/>
            <a:ext cx="5348880" cy="484596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4933431" name="Shape 3"/>
          <p:cNvSpPr/>
          <p:nvPr/>
        </p:nvSpPr>
        <p:spPr bwMode="auto">
          <a:xfrm>
            <a:off x="6263640" y="1463040"/>
            <a:ext cx="5348880" cy="484596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683479" name="Text 4"/>
          <p:cNvSpPr/>
          <p:nvPr/>
        </p:nvSpPr>
        <p:spPr bwMode="auto">
          <a:xfrm>
            <a:off x="822960" y="16459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065A82"/>
                </a:solidFill>
                <a:latin typeface="Calibri"/>
                <a:ea typeface="Calibri"/>
              </a:rPr>
              <a:t>Data Gravity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0377724" name="Text 5"/>
          <p:cNvSpPr/>
          <p:nvPr/>
        </p:nvSpPr>
        <p:spPr bwMode="auto">
          <a:xfrm>
            <a:off x="6537960" y="16459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C7293"/>
                </a:solidFill>
                <a:latin typeface="Calibri"/>
                <a:ea typeface="Calibri"/>
              </a:rPr>
              <a:t>Model Decay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530730" name="Text 6"/>
          <p:cNvSpPr/>
          <p:nvPr/>
        </p:nvSpPr>
        <p:spPr bwMode="auto">
          <a:xfrm>
            <a:off x="822960" y="2148840"/>
            <a:ext cx="48459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Large datasets attract compute &amp; tooling toward wherever they physically live.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Moving multi-GB/TB data repeatedly is slow and costly.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Distributed processing (Module 2: Spark, Ray) runs close to storage, not on a single laptop.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6062320" name="Text 7"/>
          <p:cNvSpPr/>
          <p:nvPr/>
        </p:nvSpPr>
        <p:spPr bwMode="auto">
          <a:xfrm>
            <a:off x="6537960" y="2148840"/>
            <a:ext cx="48459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A model's real-world performance degrades even if code and weights never change.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Data Drift — the input feature distribution shifts over time.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Concept Drift — the relationship between inputs and the true label itself changes.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93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377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606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20044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1.4 CASE STUDY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0398694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“It Worked on My Machine” — Root-Cause Discussion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169482" name="Text 2"/>
          <p:cNvSpPr/>
          <p:nvPr/>
        </p:nvSpPr>
        <p:spPr bwMode="auto">
          <a:xfrm>
            <a:off x="548640" y="14630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Scenario: 91% val. accuracy locally → 84% on a teammate's laptop → crashes on the GPU server.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Root cause 1 — Unpinned dependency versions changed a default hyperparameter or numerical algorithm.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Root cause 2 — Non-deterministic ops: GPU non-determinism, unseeded shuffles/initialization.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Root cause 3 — Silent data differences: a “latest” file re-exported between runs.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Root cause 4 — Hardware/driver mismatch altering floating-point behaviour.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Root cause 5 — Undocumented manual steps never captured in the pipeline.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322358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1.4 THE FIX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1358459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The Reproducibility Protocol (Built Across Module 1)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020140" name="Shape 2"/>
          <p:cNvSpPr/>
          <p:nvPr/>
        </p:nvSpPr>
        <p:spPr bwMode="auto">
          <a:xfrm>
            <a:off x="548640" y="2103120"/>
            <a:ext cx="2573640" cy="3291480"/>
          </a:xfrm>
          <a:prstGeom prst="roundRect">
            <a:avLst>
              <a:gd name="adj" fmla="val 284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4501976" name="Text 3"/>
          <p:cNvSpPr/>
          <p:nvPr/>
        </p:nvSpPr>
        <p:spPr bwMode="auto">
          <a:xfrm>
            <a:off x="68580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1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052470" name="Text 4"/>
          <p:cNvSpPr/>
          <p:nvPr/>
        </p:nvSpPr>
        <p:spPr bwMode="auto">
          <a:xfrm>
            <a:off x="685800" y="2880360"/>
            <a:ext cx="2299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Pin the Code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3821441" name="Text 5"/>
          <p:cNvSpPr/>
          <p:nvPr/>
        </p:nvSpPr>
        <p:spPr bwMode="auto">
          <a:xfrm>
            <a:off x="685800" y="3657600"/>
            <a:ext cx="22993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E4ECF5"/>
                </a:solidFill>
                <a:latin typeface="Calibri"/>
                <a:ea typeface="Calibri"/>
              </a:rPr>
              <a:t>Git — exact commit hash for every experiment.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2956275" name="Text 6"/>
          <p:cNvSpPr/>
          <p:nvPr/>
        </p:nvSpPr>
        <p:spPr bwMode="auto">
          <a:xfrm>
            <a:off x="313200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0318022" name="Shape 7"/>
          <p:cNvSpPr/>
          <p:nvPr/>
        </p:nvSpPr>
        <p:spPr bwMode="auto">
          <a:xfrm>
            <a:off x="3378600" y="2103120"/>
            <a:ext cx="2573640" cy="3291480"/>
          </a:xfrm>
          <a:prstGeom prst="roundRect">
            <a:avLst>
              <a:gd name="adj" fmla="val 284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3886103" name="Text 8"/>
          <p:cNvSpPr/>
          <p:nvPr/>
        </p:nvSpPr>
        <p:spPr bwMode="auto">
          <a:xfrm>
            <a:off x="351576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2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0858326" name="Text 9"/>
          <p:cNvSpPr/>
          <p:nvPr/>
        </p:nvSpPr>
        <p:spPr bwMode="auto">
          <a:xfrm>
            <a:off x="3515760" y="2880360"/>
            <a:ext cx="2299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Pin the Environment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2606097" name="Text 10"/>
          <p:cNvSpPr/>
          <p:nvPr/>
        </p:nvSpPr>
        <p:spPr bwMode="auto">
          <a:xfrm>
            <a:off x="3515760" y="3657600"/>
            <a:ext cx="22993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E4ECF5"/>
                </a:solidFill>
                <a:latin typeface="Calibri"/>
                <a:ea typeface="Calibri"/>
              </a:rPr>
              <a:t>Conda/Mamba environment.yml, portable across machines.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167917" name="Text 11"/>
          <p:cNvSpPr/>
          <p:nvPr/>
        </p:nvSpPr>
        <p:spPr bwMode="auto">
          <a:xfrm>
            <a:off x="596196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779492" name="Shape 12"/>
          <p:cNvSpPr/>
          <p:nvPr/>
        </p:nvSpPr>
        <p:spPr bwMode="auto">
          <a:xfrm>
            <a:off x="6208920" y="2103120"/>
            <a:ext cx="2573640" cy="3291480"/>
          </a:xfrm>
          <a:prstGeom prst="roundRect">
            <a:avLst>
              <a:gd name="adj" fmla="val 2842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093972" name="Text 13"/>
          <p:cNvSpPr/>
          <p:nvPr/>
        </p:nvSpPr>
        <p:spPr bwMode="auto">
          <a:xfrm>
            <a:off x="634608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3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0546035" name="Text 14"/>
          <p:cNvSpPr/>
          <p:nvPr/>
        </p:nvSpPr>
        <p:spPr bwMode="auto">
          <a:xfrm>
            <a:off x="6346080" y="2880360"/>
            <a:ext cx="2299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Pin the Data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047813" name="Text 15"/>
          <p:cNvSpPr/>
          <p:nvPr/>
        </p:nvSpPr>
        <p:spPr bwMode="auto">
          <a:xfrm>
            <a:off x="6346080" y="3657600"/>
            <a:ext cx="22993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E4ECF5"/>
                </a:solidFill>
                <a:latin typeface="Calibri"/>
                <a:ea typeface="Calibri"/>
              </a:rPr>
              <a:t>DVC — dataset version tied to a Git commit (Lecture 3).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316242" name="Text 16"/>
          <p:cNvSpPr/>
          <p:nvPr/>
        </p:nvSpPr>
        <p:spPr bwMode="auto">
          <a:xfrm>
            <a:off x="879192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9910815" name="Shape 17"/>
          <p:cNvSpPr/>
          <p:nvPr/>
        </p:nvSpPr>
        <p:spPr bwMode="auto">
          <a:xfrm>
            <a:off x="9038880" y="2103120"/>
            <a:ext cx="2573640" cy="3291480"/>
          </a:xfrm>
          <a:prstGeom prst="roundRect">
            <a:avLst>
              <a:gd name="adj" fmla="val 2842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137029" name="Text 18"/>
          <p:cNvSpPr/>
          <p:nvPr/>
        </p:nvSpPr>
        <p:spPr bwMode="auto">
          <a:xfrm>
            <a:off x="917604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4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8417712" name="Text 19"/>
          <p:cNvSpPr/>
          <p:nvPr/>
        </p:nvSpPr>
        <p:spPr bwMode="auto">
          <a:xfrm>
            <a:off x="9176040" y="2880360"/>
            <a:ext cx="2299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Pin the Run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9129793" name="Text 20"/>
          <p:cNvSpPr/>
          <p:nvPr/>
        </p:nvSpPr>
        <p:spPr bwMode="auto">
          <a:xfrm>
            <a:off x="9176040" y="3657600"/>
            <a:ext cx="229932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200" b="0" u="none" strike="noStrike">
                <a:solidFill>
                  <a:srgbClr val="E4ECF5"/>
                </a:solidFill>
                <a:latin typeface="Calibri"/>
                <a:ea typeface="Calibri"/>
              </a:rPr>
              <a:t>MLflow — params, metrics, artifacts for every run (Lecture 2).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764063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1  ·  1.5 HANDS-ON LAB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28849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Git + Conda Reproducible Environment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856309" name="Shape 2"/>
          <p:cNvSpPr/>
          <p:nvPr/>
        </p:nvSpPr>
        <p:spPr bwMode="auto">
          <a:xfrm>
            <a:off x="548640" y="1463040"/>
            <a:ext cx="11063880" cy="4160160"/>
          </a:xfrm>
          <a:prstGeom prst="roundRect">
            <a:avLst>
              <a:gd name="adj" fmla="val 1319"/>
            </a:avLst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759645" name="Text 3"/>
          <p:cNvSpPr/>
          <p:nvPr/>
        </p:nvSpPr>
        <p:spPr bwMode="auto">
          <a:xfrm>
            <a:off x="822960" y="1645920"/>
            <a:ext cx="1051524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git init aiops-module1 &amp;&amp; cd aiops-module1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conda create -n aiops-m1 python=3.10 -y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conda activate aiops-m1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conda install pytorch cpuonly mlflow pandas scikit-learn \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    -c pytorch -c conda-forge -y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conda env export --no-builds &gt; environment.yml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git add environment.yml requirements.txt train.py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urier New"/>
                <a:ea typeface="Consolas"/>
              </a:rPr>
              <a:t>$ git commit -m "Initial reproducible training environment"</a:t>
            </a:r>
            <a:endParaRPr lang="en-US" sz="1300" b="0" u="none" strike="noStrike">
              <a:solidFill>
                <a:srgbClr val="000000"/>
              </a:solidFill>
              <a:latin typeface="Courier New"/>
            </a:endParaRPr>
          </a:p>
        </p:txBody>
      </p:sp>
      <p:sp>
        <p:nvSpPr>
          <p:cNvPr id="1366863176" name="Shape 4"/>
          <p:cNvSpPr/>
          <p:nvPr/>
        </p:nvSpPr>
        <p:spPr bwMode="auto">
          <a:xfrm>
            <a:off x="548640" y="571500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6720065" name="Text 5"/>
          <p:cNvSpPr/>
          <p:nvPr/>
        </p:nvSpPr>
        <p:spPr bwMode="auto">
          <a:xfrm>
            <a:off x="777240" y="576072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i="1" u="none" strike="noStrike">
                <a:solidFill>
                  <a:srgbClr val="12233A"/>
                </a:solidFill>
                <a:latin typeface="Calibri"/>
                <a:ea typeface="Calibri"/>
              </a:rPr>
              <a:t>Lab goal: exchange repos with a partner and reproduce the exact same metric using only environment.yml + train.py --seed 42.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B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456319" name="Shape 0"/>
          <p:cNvSpPr/>
          <p:nvPr/>
        </p:nvSpPr>
        <p:spPr bwMode="auto">
          <a:xfrm>
            <a:off x="0" y="0"/>
            <a:ext cx="4205880" cy="6857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1825632" name="Shape 1"/>
          <p:cNvSpPr/>
          <p:nvPr/>
        </p:nvSpPr>
        <p:spPr bwMode="auto">
          <a:xfrm>
            <a:off x="-1097280" y="4846320"/>
            <a:ext cx="3657240" cy="3657240"/>
          </a:xfrm>
          <a:prstGeom prst="ellipse">
            <a:avLst/>
          </a:prstGeom>
          <a:solidFill>
            <a:srgbClr val="1C7293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0971533" name="Text 2"/>
          <p:cNvSpPr/>
          <p:nvPr/>
        </p:nvSpPr>
        <p:spPr bwMode="auto">
          <a:xfrm>
            <a:off x="548640" y="640080"/>
            <a:ext cx="3108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6600" b="1" u="none" strike="noStrike">
                <a:solidFill>
                  <a:srgbClr val="3E6FA0"/>
                </a:solidFill>
                <a:latin typeface="Cambria"/>
                <a:ea typeface="Cambria"/>
              </a:rPr>
              <a:t>02</a:t>
            </a:r>
            <a:endParaRPr lang="en-US" sz="6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888503" name="Text 3"/>
          <p:cNvSpPr/>
          <p:nvPr/>
        </p:nvSpPr>
        <p:spPr bwMode="auto">
          <a:xfrm>
            <a:off x="548640" y="2377440"/>
            <a:ext cx="32914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Experiment Tracking with MLflow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169887" name="Text 4"/>
          <p:cNvSpPr/>
          <p:nvPr/>
        </p:nvSpPr>
        <p:spPr bwMode="auto">
          <a:xfrm>
            <a:off x="4846320" y="2194560"/>
            <a:ext cx="65833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The reproducibility crisis: hundreds of untracked runs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MLflow architecture: Tracking Server, stores, Registry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Core vocabulary: experiment, run, param, metric, artifact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Hands-on: instrument a PyTorch training loop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Reading a multi-run comparison table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8923469" name="Text 5"/>
          <p:cNvSpPr/>
          <p:nvPr/>
        </p:nvSpPr>
        <p:spPr bwMode="auto">
          <a:xfrm>
            <a:off x="4846320" y="1417320"/>
            <a:ext cx="548603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>
                <a:solidFill>
                  <a:srgbClr val="5FD3C4"/>
                </a:solidFill>
                <a:latin typeface="Calibri"/>
                <a:ea typeface="Calibri"/>
              </a:rPr>
              <a:t>What this session covers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2531356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2  ·  2.1 MOTIVATION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965132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The Reproducibility Crisis in Applied ML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7086951" name="Text 2"/>
          <p:cNvSpPr/>
          <p:nvPr/>
        </p:nvSpPr>
        <p:spPr bwMode="auto">
          <a:xfrm>
            <a:off x="548640" y="14630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Tuning a model means running dozens to hundreds of experiments: learning rates, architectures, feature sets, seeds.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Without systematic tracking, teams lose the ability to answer simple questions.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“Which run produced the model currently in production?”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“Which hyperparameters gave our best F1 score?”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“Which dataset version trained this model?”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12233A"/>
                </a:solidFill>
                <a:latin typeface="Calibri"/>
                <a:ea typeface="Calibri"/>
              </a:rPr>
              <a:t>Experiment tracking directly counters Configuration Debt from Lecture 1.</a:t>
            </a:r>
            <a:endParaRPr lang="en-US" sz="1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920265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2  ·  2.2 MLFLOW ARCHITECTURE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26613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Four Components of the MLflow Platform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47051" name="Shape 2"/>
          <p:cNvSpPr/>
          <p:nvPr/>
        </p:nvSpPr>
        <p:spPr bwMode="auto">
          <a:xfrm>
            <a:off x="54864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6618127" name="Shape 3"/>
          <p:cNvSpPr/>
          <p:nvPr/>
        </p:nvSpPr>
        <p:spPr bwMode="auto">
          <a:xfrm>
            <a:off x="82296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834879" name="Text 4"/>
          <p:cNvSpPr/>
          <p:nvPr/>
        </p:nvSpPr>
        <p:spPr bwMode="auto">
          <a:xfrm>
            <a:off x="82296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703712" name="Text 5"/>
          <p:cNvSpPr/>
          <p:nvPr/>
        </p:nvSpPr>
        <p:spPr bwMode="auto">
          <a:xfrm>
            <a:off x="77724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Tracking Server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6908504" name="Text 6"/>
          <p:cNvSpPr/>
          <p:nvPr/>
        </p:nvSpPr>
        <p:spPr bwMode="auto">
          <a:xfrm>
            <a:off x="77724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REST/UI service that receives and serves logged run data to every client.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6370837" name="Shape 7"/>
          <p:cNvSpPr/>
          <p:nvPr/>
        </p:nvSpPr>
        <p:spPr bwMode="auto">
          <a:xfrm>
            <a:off x="434340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8775824" name="Shape 8"/>
          <p:cNvSpPr/>
          <p:nvPr/>
        </p:nvSpPr>
        <p:spPr bwMode="auto">
          <a:xfrm>
            <a:off x="461772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503553" name="Text 9"/>
          <p:cNvSpPr/>
          <p:nvPr/>
        </p:nvSpPr>
        <p:spPr bwMode="auto">
          <a:xfrm>
            <a:off x="461772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893079" name="Text 10"/>
          <p:cNvSpPr/>
          <p:nvPr/>
        </p:nvSpPr>
        <p:spPr bwMode="auto">
          <a:xfrm>
            <a:off x="457200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Backend Store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868044" name="Text 11"/>
          <p:cNvSpPr/>
          <p:nvPr/>
        </p:nvSpPr>
        <p:spPr bwMode="auto">
          <a:xfrm>
            <a:off x="457200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Stores metadata: parameters, metrics, tags, and run status (e.g. a database).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3983903" name="Shape 12"/>
          <p:cNvSpPr/>
          <p:nvPr/>
        </p:nvSpPr>
        <p:spPr bwMode="auto">
          <a:xfrm>
            <a:off x="8138160" y="1554480"/>
            <a:ext cx="3474360" cy="44802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E1EA"/>
            </a:solidFill>
            <a:round/>
          </a:ln>
          <a:effectLst>
            <a:outerShdw blurRad="76320" dist="25560" dir="5400000" sx="100000" sy="100000" kx="0" ky="0" algn="bl" rotWithShape="0">
              <a:srgbClr val="1F4E79">
                <a:alpha val="1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850220" name="Shape 13"/>
          <p:cNvSpPr/>
          <p:nvPr/>
        </p:nvSpPr>
        <p:spPr bwMode="auto">
          <a:xfrm>
            <a:off x="8412480" y="1828800"/>
            <a:ext cx="548280" cy="548280"/>
          </a:xfrm>
          <a:prstGeom prst="ellipse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358242" name="Text 14"/>
          <p:cNvSpPr/>
          <p:nvPr/>
        </p:nvSpPr>
        <p:spPr bwMode="auto">
          <a:xfrm>
            <a:off x="8412480" y="182880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800" b="1" u="none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966092" name="Text 15"/>
          <p:cNvSpPr/>
          <p:nvPr/>
        </p:nvSpPr>
        <p:spPr bwMode="auto">
          <a:xfrm>
            <a:off x="8366760" y="2514600"/>
            <a:ext cx="30171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500" b="1" u="none" strike="noStrike">
                <a:solidFill>
                  <a:srgbClr val="12233A"/>
                </a:solidFill>
                <a:latin typeface="Calibri"/>
                <a:ea typeface="Calibri"/>
              </a:rPr>
              <a:t>Artifact Store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4440326" name="Text 16"/>
          <p:cNvSpPr/>
          <p:nvPr/>
        </p:nvSpPr>
        <p:spPr bwMode="auto">
          <a:xfrm>
            <a:off x="8366760" y="3154680"/>
            <a:ext cx="301716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Stores large binary outputs: model files, plots, checkpoints.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9910365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2  ·  2.3 CORE VOCABULARY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8115689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Six Terms You </a:t>
            </a: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Will Use in </a:t>
            </a: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Every Lab </a:t>
            </a: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From Here On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7815934" name="Text 2"/>
          <p:cNvSpPr/>
          <p:nvPr/>
        </p:nvSpPr>
        <p:spPr bwMode="auto">
          <a:xfrm>
            <a:off x="548640" y="14630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Experiment — a named collection of related runs (e.g. “chest-xray-classifier”).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Run — a single execution of training/evaluation code; the atomic unit of tracking.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Parameters — static input configuration (learning rate, batch size, architecture).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Metrics — values logged over time/steps (loss per epoch, validation accuracy).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Artifacts — files produced by a run (saved weights, confusion-matrix plots).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Tags — free-form key/value metadata for filtering (team, git commit hash).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811059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2  ·  2.4 HANDS-ON LAB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15897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Instrumenting a PyTorch Training Loop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3488964" name="Shape 2"/>
          <p:cNvSpPr/>
          <p:nvPr/>
        </p:nvSpPr>
        <p:spPr bwMode="auto">
          <a:xfrm>
            <a:off x="548640" y="1463040"/>
            <a:ext cx="11063880" cy="4160160"/>
          </a:xfrm>
          <a:prstGeom prst="roundRect">
            <a:avLst>
              <a:gd name="adj" fmla="val 1319"/>
            </a:avLst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0619805" name="Text 3"/>
          <p:cNvSpPr/>
          <p:nvPr/>
        </p:nvSpPr>
        <p:spPr bwMode="auto">
          <a:xfrm>
            <a:off x="822960" y="1645920"/>
            <a:ext cx="1051524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with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mlflow.start_run(run_name=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"resnet18-lr0.001"):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mlflow.log_param("lr",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0.001)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mlflow.log_param("batch_siz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e", 32)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mlflow.set_tag("git_commit",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get_git_commit_hash())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for epoch in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range(num_epochs):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    train_loss =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train_one_epoch(model,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optimizer, train_loader)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    val_acc =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evaluate(model, val_loader)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   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mlflow.log_metric("train_loss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", train_loss, step=epoch)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   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mlflow.log_metric("val_accur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acy", val_acc, step=epoch)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mlflow.pytorch.log_model(m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odel, "model")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    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mlflow.log_artifact("confusio</a:t>
            </a: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n_matrix.png")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7817222" name="Shape 4"/>
          <p:cNvSpPr/>
          <p:nvPr/>
        </p:nvSpPr>
        <p:spPr bwMode="auto">
          <a:xfrm>
            <a:off x="548640" y="571500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1790873" name="Text 5"/>
          <p:cNvSpPr/>
          <p:nvPr/>
        </p:nvSpPr>
        <p:spPr bwMode="auto">
          <a:xfrm>
            <a:off x="777240" y="576072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i="1" u="none" strike="noStrike">
                <a:solidFill>
                  <a:srgbClr val="12233A"/>
                </a:solidFill>
                <a:latin typeface="Calibri"/>
                <a:ea typeface="Calibri"/>
              </a:rPr>
              <a:t>Lab target: log at least 4 runs varying lr and/or architecture, then compare them in the MLflow UI.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067639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2  ·  2.5 READING RESULTS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295848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Interpreting a Multi-Run Comparison Table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9489157" name="Text 2"/>
          <p:cNvSpPr/>
          <p:nvPr/>
        </p:nvSpPr>
        <p:spPr bwMode="auto">
          <a:xfrm>
            <a:off x="548640" y="14630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Sort by the VALIDATION metric — never rank runs by training loss alone.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Watch for the overfitting signature: train_loss keeps falling while val_accuracy plateaus or drops.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Compare which hyperparameter shows the cleaner, more consistent trend across runs.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A run with the lowest training loss but mediocre validation accuracy is a trap, not a winner.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800" b="0" u="none" strike="noStrike">
                <a:solidFill>
                  <a:srgbClr val="12233A"/>
                </a:solidFill>
                <a:latin typeface="Calibri"/>
                <a:ea typeface="Calibri"/>
              </a:rPr>
              <a:t>Every conclusion here should be traceable back to a specific logged run — that traceability is the whole point.</a:t>
            </a: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B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560321" name="Shape 0"/>
          <p:cNvSpPr/>
          <p:nvPr/>
        </p:nvSpPr>
        <p:spPr bwMode="auto">
          <a:xfrm>
            <a:off x="0" y="0"/>
            <a:ext cx="4205880" cy="68576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588618" name="Shape 1"/>
          <p:cNvSpPr/>
          <p:nvPr/>
        </p:nvSpPr>
        <p:spPr bwMode="auto">
          <a:xfrm>
            <a:off x="-1097280" y="4846320"/>
            <a:ext cx="3657240" cy="3657240"/>
          </a:xfrm>
          <a:prstGeom prst="ellipse">
            <a:avLst/>
          </a:prstGeom>
          <a:solidFill>
            <a:srgbClr val="1C7293">
              <a:alpha val="6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724886" name="Text 2"/>
          <p:cNvSpPr/>
          <p:nvPr/>
        </p:nvSpPr>
        <p:spPr bwMode="auto">
          <a:xfrm>
            <a:off x="548640" y="640080"/>
            <a:ext cx="310860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6600" b="1" u="none" strike="noStrike">
                <a:solidFill>
                  <a:srgbClr val="3E6FA0"/>
                </a:solidFill>
                <a:latin typeface="Cambria"/>
                <a:ea typeface="Cambria"/>
              </a:rPr>
              <a:t>03</a:t>
            </a:r>
            <a:endParaRPr lang="en-US" sz="6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0876825" name="Text 3"/>
          <p:cNvSpPr/>
          <p:nvPr/>
        </p:nvSpPr>
        <p:spPr bwMode="auto">
          <a:xfrm>
            <a:off x="548640" y="2377440"/>
            <a:ext cx="329148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R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e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p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r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o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d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u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c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i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b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i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l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i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t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y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: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 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D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a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t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a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 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&amp;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 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M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o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d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e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l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 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V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e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r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s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i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o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n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i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n</a:t>
            </a: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g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007071" name="Text 4"/>
          <p:cNvSpPr/>
          <p:nvPr/>
        </p:nvSpPr>
        <p:spPr bwMode="auto">
          <a:xfrm>
            <a:off x="4846320" y="2194560"/>
            <a:ext cx="6583320" cy="384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The version control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triad: code, data,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model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DVC: data versioning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tied to Git commits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MLflow Model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Registry: stages &amp;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lineage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Case study: auditing a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healthcare model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400"/>
              </a:spcAft>
              <a:buClr>
                <a:srgbClr val="F4F7FA"/>
              </a:buClr>
              <a:buFont typeface="OpenSymbol"/>
              <a:buChar char="▪"/>
              <a:defRPr/>
            </a:pP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Capstone: end-to-end </a:t>
            </a:r>
            <a:r>
              <a:rPr lang="en-US" sz="1600" b="0" u="none" strike="noStrike">
                <a:solidFill>
                  <a:srgbClr val="F4F7FA"/>
                </a:solidFill>
                <a:latin typeface="Calibri"/>
                <a:ea typeface="Calibri"/>
              </a:rPr>
              <a:t>reproducibility drill</a:t>
            </a:r>
            <a:endParaRPr lang="en-US" sz="16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822819" name="Text 5"/>
          <p:cNvSpPr/>
          <p:nvPr/>
        </p:nvSpPr>
        <p:spPr bwMode="auto">
          <a:xfrm>
            <a:off x="4846320" y="1417320"/>
            <a:ext cx="5486039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>
                <a:solidFill>
                  <a:srgbClr val="5FD3C4"/>
                </a:solidFill>
                <a:latin typeface="Calibri"/>
                <a:ea typeface="Calibri"/>
              </a:rPr>
              <a:t>What this session covers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047819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3.1 THE TRIAD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147664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Code, Data, and Model Must Version Together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732692606" name="Table 0"/>
          <p:cNvGraphicFramePr>
            <a:graphicFrameLocks xmlns:a="http://schemas.openxmlformats.org/drawingml/2006/main"/>
          </p:cNvGraphicFramePr>
          <p:nvPr/>
        </p:nvGraphicFramePr>
        <p:xfrm rot="0">
          <a:off x="548640" y="1554480"/>
          <a:ext cx="11063880" cy="22672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011680"/>
                <a:gridCol w="3840480"/>
                <a:gridCol w="5212080"/>
              </a:tblGrid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Why Git Alone Fails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Code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Git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—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Data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DVC (Data Version Control)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Datasets are large binaries; Git is not built to store/diff multi-GB files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Model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MLflow Model Registry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Models need a lifecycle (staging → production → archived), not just a file version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31694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3.2 DVC WORKFLOW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4216965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Data Versioning in Five Commands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858695" name="Shape 2"/>
          <p:cNvSpPr/>
          <p:nvPr/>
        </p:nvSpPr>
        <p:spPr bwMode="auto">
          <a:xfrm>
            <a:off x="54864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345997" name="Text 3"/>
          <p:cNvSpPr/>
          <p:nvPr/>
        </p:nvSpPr>
        <p:spPr bwMode="auto">
          <a:xfrm>
            <a:off x="68580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1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8569957" name="Text 4"/>
          <p:cNvSpPr/>
          <p:nvPr/>
        </p:nvSpPr>
        <p:spPr bwMode="auto">
          <a:xfrm>
            <a:off x="68580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dvc init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719213" name="Text 5"/>
          <p:cNvSpPr/>
          <p:nvPr/>
        </p:nvSpPr>
        <p:spPr bwMode="auto">
          <a:xfrm>
            <a:off x="68580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Initiali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ze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inside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an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existi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ng Git 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reposi</a:t>
            </a: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tory.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6762781" name="Text 6"/>
          <p:cNvSpPr/>
          <p:nvPr/>
        </p:nvSpPr>
        <p:spPr bwMode="auto">
          <a:xfrm>
            <a:off x="256572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2253280" name="Shape 7"/>
          <p:cNvSpPr/>
          <p:nvPr/>
        </p:nvSpPr>
        <p:spPr bwMode="auto">
          <a:xfrm>
            <a:off x="281268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214825" name="Text 8"/>
          <p:cNvSpPr/>
          <p:nvPr/>
        </p:nvSpPr>
        <p:spPr bwMode="auto">
          <a:xfrm>
            <a:off x="294984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2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3853792" name="Text 9"/>
          <p:cNvSpPr/>
          <p:nvPr/>
        </p:nvSpPr>
        <p:spPr bwMode="auto">
          <a:xfrm>
            <a:off x="294984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dvc add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421820" name="Text 10"/>
          <p:cNvSpPr/>
          <p:nvPr/>
        </p:nvSpPr>
        <p:spPr bwMode="auto">
          <a:xfrm>
            <a:off x="294984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Creates a small .dvc pointer file; the real data is git-ignored automatically.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903001" name="Text 11"/>
          <p:cNvSpPr/>
          <p:nvPr/>
        </p:nvSpPr>
        <p:spPr bwMode="auto">
          <a:xfrm>
            <a:off x="482976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378469" name="Shape 12"/>
          <p:cNvSpPr/>
          <p:nvPr/>
        </p:nvSpPr>
        <p:spPr bwMode="auto">
          <a:xfrm>
            <a:off x="507672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266842" name="Text 13"/>
          <p:cNvSpPr/>
          <p:nvPr/>
        </p:nvSpPr>
        <p:spPr bwMode="auto">
          <a:xfrm>
            <a:off x="521388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3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4615535" name="Text 14"/>
          <p:cNvSpPr/>
          <p:nvPr/>
        </p:nvSpPr>
        <p:spPr bwMode="auto">
          <a:xfrm>
            <a:off x="521388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git commit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3365030" name="Text 15"/>
          <p:cNvSpPr/>
          <p:nvPr/>
        </p:nvSpPr>
        <p:spPr bwMode="auto">
          <a:xfrm>
            <a:off x="521388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Commit the .dvc pointer file alongside the code that produced/uses it.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4320977" name="Text 16"/>
          <p:cNvSpPr/>
          <p:nvPr/>
        </p:nvSpPr>
        <p:spPr bwMode="auto">
          <a:xfrm>
            <a:off x="709380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9157508" name="Shape 17"/>
          <p:cNvSpPr/>
          <p:nvPr/>
        </p:nvSpPr>
        <p:spPr bwMode="auto">
          <a:xfrm>
            <a:off x="734076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3285372" name="Text 18"/>
          <p:cNvSpPr/>
          <p:nvPr/>
        </p:nvSpPr>
        <p:spPr bwMode="auto">
          <a:xfrm>
            <a:off x="747792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4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565943" name="Text 19"/>
          <p:cNvSpPr/>
          <p:nvPr/>
        </p:nvSpPr>
        <p:spPr bwMode="auto">
          <a:xfrm>
            <a:off x="747792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dvc remote add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22193" name="Text 20"/>
          <p:cNvSpPr/>
          <p:nvPr/>
        </p:nvSpPr>
        <p:spPr bwMode="auto">
          <a:xfrm>
            <a:off x="747792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Point to a storage remote — local path, S3, or similar.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7561259" name="Text 21"/>
          <p:cNvSpPr/>
          <p:nvPr/>
        </p:nvSpPr>
        <p:spPr bwMode="auto">
          <a:xfrm>
            <a:off x="935784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3296036" name="Shape 22"/>
          <p:cNvSpPr/>
          <p:nvPr/>
        </p:nvSpPr>
        <p:spPr bwMode="auto">
          <a:xfrm>
            <a:off x="960480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0654132" name="Text 23"/>
          <p:cNvSpPr/>
          <p:nvPr/>
        </p:nvSpPr>
        <p:spPr bwMode="auto">
          <a:xfrm>
            <a:off x="974196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5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873417" name="Text 24"/>
          <p:cNvSpPr/>
          <p:nvPr/>
        </p:nvSpPr>
        <p:spPr bwMode="auto">
          <a:xfrm>
            <a:off x="974196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dvc push / pull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78897" name="Text 25"/>
          <p:cNvSpPr/>
          <p:nvPr/>
        </p:nvSpPr>
        <p:spPr bwMode="auto">
          <a:xfrm>
            <a:off x="974196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Upload or retrieve the actual data bytes from the remote.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8581352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3.2 HANDS-ON LAB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4114878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Rolling Back to an Exact Data Version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1074921" name="Shape 2"/>
          <p:cNvSpPr/>
          <p:nvPr/>
        </p:nvSpPr>
        <p:spPr bwMode="auto">
          <a:xfrm>
            <a:off x="548640" y="1463040"/>
            <a:ext cx="11063880" cy="4160160"/>
          </a:xfrm>
          <a:prstGeom prst="roundRect">
            <a:avLst>
              <a:gd name="adj" fmla="val 1319"/>
            </a:avLst>
          </a:prstGeom>
          <a:solidFill>
            <a:srgbClr val="0B1B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157984" name="Text 3"/>
          <p:cNvSpPr/>
          <p:nvPr/>
        </p:nvSpPr>
        <p:spPr bwMode="auto">
          <a:xfrm>
            <a:off x="822960" y="1645920"/>
            <a:ext cx="10515240" cy="379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dvc init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dvc remote add -d localstore /mnt/shared/dvcstore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dvc add data/train_v1.csv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git add data/train_v1.csv.dvc .gitignore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git commit -m "v1 dataset"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dvc push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# --- reproduce an OLD experiment exactly ---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git checkout &lt;commit-hash-of-v1&gt;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  <a:defRPr/>
            </a:pPr>
            <a:r>
              <a:rPr lang="en-US" sz="1300" b="0" u="none" strike="noStrike">
                <a:solidFill>
                  <a:srgbClr val="9BE7C4"/>
                </a:solidFill>
                <a:latin typeface="Consolas"/>
                <a:ea typeface="Consolas"/>
              </a:rPr>
              <a:t>$ dvc checkout      # pulls the exact data bytes for that commit</a:t>
            </a:r>
            <a:endParaRPr lang="en-US" sz="13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1501722" name="Shape 4"/>
          <p:cNvSpPr/>
          <p:nvPr/>
        </p:nvSpPr>
        <p:spPr bwMode="auto">
          <a:xfrm>
            <a:off x="548640" y="5715000"/>
            <a:ext cx="11063880" cy="6854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7033303" name="Text 5"/>
          <p:cNvSpPr/>
          <p:nvPr/>
        </p:nvSpPr>
        <p:spPr bwMode="auto">
          <a:xfrm>
            <a:off x="777240" y="5760720"/>
            <a:ext cx="10606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0" i="1" u="none" strike="noStrike">
                <a:solidFill>
                  <a:srgbClr val="12233A"/>
                </a:solidFill>
                <a:latin typeface="Calibri"/>
                <a:ea typeface="Calibri"/>
              </a:rPr>
              <a:t>Key idea: git checkout moves the pointer back in time; dvc checkout fetches the exact bytes it refers to.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976568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3.3 MLFLOW MODEL REGISTRY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136180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A Governed Lifecycle for Every Model Version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56227708" name="Table 0"/>
          <p:cNvGraphicFramePr>
            <a:graphicFrameLocks xmlns:a="http://schemas.openxmlformats.org/drawingml/2006/main"/>
          </p:cNvGraphicFramePr>
          <p:nvPr/>
        </p:nvGraphicFramePr>
        <p:xfrm rot="0">
          <a:off x="548640" y="1554480"/>
          <a:ext cx="11063880" cy="283428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743200"/>
                <a:gridCol w="8321039"/>
              </a:tblGrid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065A82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None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Registered but not yet reviewed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Staging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Candidate under validation (shadow testing, QA)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Production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Currently serving live traffic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6640"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Archived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  <a:defRPr/>
                      </a:pPr>
                      <a:r>
                        <a:rPr lang="en-US" sz="1250" b="0" u="none" strike="noStrike">
                          <a:solidFill>
                            <a:srgbClr val="12233A"/>
                          </a:solidFill>
                          <a:latin typeface="Calibri"/>
                        </a:rPr>
                        <a:t>Retired; kept for audit and rollback history</a:t>
                      </a:r>
                      <a:endParaRPr lang="en-US" sz="1250" b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1440" marR="91440" marT="45720" marB="45720" anchor="ctr">
                    <a:lnL w="6480" algn="ctr">
                      <a:solidFill>
                        <a:srgbClr val="D8E1EA"/>
                      </a:solidFill>
                    </a:lnL>
                    <a:lnR w="6480" algn="ctr">
                      <a:solidFill>
                        <a:srgbClr val="D8E1EA"/>
                      </a:solidFill>
                    </a:lnR>
                    <a:lnT w="6480" algn="ctr">
                      <a:solidFill>
                        <a:srgbClr val="D8E1EA"/>
                      </a:solidFill>
                    </a:lnT>
                    <a:lnB w="6480" algn="ctr">
                      <a:solidFill>
                        <a:srgbClr val="D8E1EA"/>
                      </a:solidFill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848257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3.4 CASE STUDY 1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5772387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Auditing a Healthcare Model for Regulatory Compliance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8867941" name="Text 2"/>
          <p:cNvSpPr/>
          <p:nvPr/>
        </p:nvSpPr>
        <p:spPr bwMode="auto">
          <a:xfrm>
            <a:off x="548640" y="14630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Scenario: a sepsis-risk model is live in the ICU. A regulator asks for its full traceable history.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Q: Which exact Git commit produced this model?  →  git log / MLflow run tag git_commit.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Q: Which exact dataset version was used?  →  the .dvc pointer committed with that code + dvc checkout.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Q: What hyperparameters and metrics did this run report?  →  the MLflow run page.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Q: Has this model version ever been in Production, and when?  →  Model Registry stage-transition history.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This traceability chain is exactly what Module 6 (Governance) builds on top of.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72767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3.5 CASE STUDY 2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444064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Closing the Loop on “It Worked on My Machine”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4966531" name="Text 2"/>
          <p:cNvSpPr/>
          <p:nvPr/>
        </p:nvSpPr>
        <p:spPr bwMode="auto">
          <a:xfrm>
            <a:off x="548640" y="1463040"/>
            <a:ext cx="11063880" cy="48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Unpinned library versions  →  prevented by environment.yml committed to Git.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Non-deterministic / unseeded runs  →  prevented by mlflow.log_param("seed", ...) + fixed seeds.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Silent data differences  →  prevented by a DVC data hash tied to a Git commit.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Hardware/driver mismatch  →  documented environment + containerization (Module 3 preview).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199"/>
              </a:spcAft>
              <a:buClr>
                <a:srgbClr val="12233A"/>
              </a:buClr>
              <a:buFont typeface="OpenSymbol"/>
              <a:buChar char="▪"/>
              <a:defRPr/>
            </a:pPr>
            <a:r>
              <a:rPr lang="en-US" sz="1500" b="0" u="none" strike="noStrike">
                <a:solidFill>
                  <a:srgbClr val="12233A"/>
                </a:solidFill>
                <a:latin typeface="Calibri"/>
                <a:ea typeface="Calibri"/>
              </a:rPr>
              <a:t>Undocumented manual steps  →  MLflow run tags/notes as the single source of truth.</a:t>
            </a:r>
            <a:endParaRPr lang="en-US" sz="15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4F7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7477150" name="Text 0"/>
          <p:cNvSpPr/>
          <p:nvPr/>
        </p:nvSpPr>
        <p:spPr bwMode="auto">
          <a:xfrm>
            <a:off x="548640" y="3200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200" b="1" u="none" strike="noStrike" spc="201">
                <a:solidFill>
                  <a:srgbClr val="1C7293"/>
                </a:solidFill>
                <a:latin typeface="Calibri"/>
                <a:ea typeface="Calibri"/>
              </a:rPr>
              <a:t>LECTURE 3  ·  3.6 CAPSTONE DRILL</a:t>
            </a:r>
            <a:endParaRPr lang="en-US" sz="1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1019943" name="Text 1"/>
          <p:cNvSpPr/>
          <p:nvPr/>
        </p:nvSpPr>
        <p:spPr bwMode="auto">
          <a:xfrm>
            <a:off x="548640" y="59436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600" b="1" u="none" strike="noStrike">
                <a:solidFill>
                  <a:srgbClr val="12233A"/>
                </a:solidFill>
                <a:latin typeface="Cambria"/>
                <a:ea typeface="Cambria"/>
              </a:rPr>
              <a:t>End-to-End Reproducibility, Start to Finish</a:t>
            </a:r>
            <a:endParaRPr lang="en-US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3261509" name="Shape 2"/>
          <p:cNvSpPr/>
          <p:nvPr/>
        </p:nvSpPr>
        <p:spPr bwMode="auto">
          <a:xfrm>
            <a:off x="54864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772145" name="Text 3"/>
          <p:cNvSpPr/>
          <p:nvPr/>
        </p:nvSpPr>
        <p:spPr bwMode="auto">
          <a:xfrm>
            <a:off x="68580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1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4847109" name="Text 4"/>
          <p:cNvSpPr/>
          <p:nvPr/>
        </p:nvSpPr>
        <p:spPr bwMode="auto">
          <a:xfrm>
            <a:off x="68580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Train + Log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8543163" name="Text 5"/>
          <p:cNvSpPr/>
          <p:nvPr/>
        </p:nvSpPr>
        <p:spPr bwMode="auto">
          <a:xfrm>
            <a:off x="68580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Log the run in MLflow: params, metrics, artifact, seed, git_commit tag.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8107371" name="Text 6"/>
          <p:cNvSpPr/>
          <p:nvPr/>
        </p:nvSpPr>
        <p:spPr bwMode="auto">
          <a:xfrm>
            <a:off x="256572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6597766" name="Shape 7"/>
          <p:cNvSpPr/>
          <p:nvPr/>
        </p:nvSpPr>
        <p:spPr bwMode="auto">
          <a:xfrm>
            <a:off x="281268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2654083" name="Text 8"/>
          <p:cNvSpPr/>
          <p:nvPr/>
        </p:nvSpPr>
        <p:spPr bwMode="auto">
          <a:xfrm>
            <a:off x="294984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2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5842018" name="Text 9"/>
          <p:cNvSpPr/>
          <p:nvPr/>
        </p:nvSpPr>
        <p:spPr bwMode="auto">
          <a:xfrm>
            <a:off x="294984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Version Data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2635066" name="Text 10"/>
          <p:cNvSpPr/>
          <p:nvPr/>
        </p:nvSpPr>
        <p:spPr bwMode="auto">
          <a:xfrm>
            <a:off x="294984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dvc add the dataset; commit the .dvc file in the SAME Git commit.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1529925" name="Text 11"/>
          <p:cNvSpPr/>
          <p:nvPr/>
        </p:nvSpPr>
        <p:spPr bwMode="auto">
          <a:xfrm>
            <a:off x="482976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9214358" name="Shape 12"/>
          <p:cNvSpPr/>
          <p:nvPr/>
        </p:nvSpPr>
        <p:spPr bwMode="auto">
          <a:xfrm>
            <a:off x="507672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006721" name="Text 13"/>
          <p:cNvSpPr/>
          <p:nvPr/>
        </p:nvSpPr>
        <p:spPr bwMode="auto">
          <a:xfrm>
            <a:off x="521388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3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4526057" name="Text 14"/>
          <p:cNvSpPr/>
          <p:nvPr/>
        </p:nvSpPr>
        <p:spPr bwMode="auto">
          <a:xfrm>
            <a:off x="521388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Register Model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806790" name="Text 15"/>
          <p:cNvSpPr/>
          <p:nvPr/>
        </p:nvSpPr>
        <p:spPr bwMode="auto">
          <a:xfrm>
            <a:off x="521388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Register in MLflow Model Registry; transition to “Staging.”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4058352" name="Text 16"/>
          <p:cNvSpPr/>
          <p:nvPr/>
        </p:nvSpPr>
        <p:spPr bwMode="auto">
          <a:xfrm>
            <a:off x="709380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4117173" name="Shape 17"/>
          <p:cNvSpPr/>
          <p:nvPr/>
        </p:nvSpPr>
        <p:spPr bwMode="auto">
          <a:xfrm>
            <a:off x="734076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597767" name="Text 18"/>
          <p:cNvSpPr/>
          <p:nvPr/>
        </p:nvSpPr>
        <p:spPr bwMode="auto">
          <a:xfrm>
            <a:off x="747792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4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091326" name="Text 19"/>
          <p:cNvSpPr/>
          <p:nvPr/>
        </p:nvSpPr>
        <p:spPr bwMode="auto">
          <a:xfrm>
            <a:off x="747792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Hand Off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765815" name="Text 20"/>
          <p:cNvSpPr/>
          <p:nvPr/>
        </p:nvSpPr>
        <p:spPr bwMode="auto">
          <a:xfrm>
            <a:off x="747792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Share the repo with a partner — no other communication allowed.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2910821" name="Text 21"/>
          <p:cNvSpPr/>
          <p:nvPr/>
        </p:nvSpPr>
        <p:spPr bwMode="auto">
          <a:xfrm>
            <a:off x="9357840" y="3566160"/>
            <a:ext cx="237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u="none" strike="noStrike">
                <a:solidFill>
                  <a:srgbClr val="6B7A8F"/>
                </a:solidFill>
                <a:latin typeface="Calibri"/>
                <a:ea typeface="Calibri"/>
              </a:rPr>
              <a:t>▶</a:t>
            </a:r>
            <a:endParaRPr lang="en-US" sz="14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8816431" name="Shape 22"/>
          <p:cNvSpPr/>
          <p:nvPr/>
        </p:nvSpPr>
        <p:spPr bwMode="auto">
          <a:xfrm>
            <a:off x="9604800" y="2103120"/>
            <a:ext cx="2007720" cy="3291480"/>
          </a:xfrm>
          <a:prstGeom prst="roundRect">
            <a:avLst>
              <a:gd name="adj" fmla="val 3643"/>
            </a:avLst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095334" name="Text 23"/>
          <p:cNvSpPr/>
          <p:nvPr/>
        </p:nvSpPr>
        <p:spPr bwMode="auto">
          <a:xfrm>
            <a:off x="9741960" y="22402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200" b="1" u="none" strike="noStrike">
                <a:solidFill>
                  <a:srgbClr val="5FD3C4"/>
                </a:solidFill>
                <a:latin typeface="Cambria"/>
                <a:ea typeface="Cambria"/>
              </a:rPr>
              <a:t>5</a:t>
            </a:r>
            <a:endParaRPr lang="en-US" sz="22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6023148" name="Text 24"/>
          <p:cNvSpPr/>
          <p:nvPr/>
        </p:nvSpPr>
        <p:spPr bwMode="auto">
          <a:xfrm>
            <a:off x="9741960" y="2880360"/>
            <a:ext cx="1733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350" b="1" u="none" strike="noStrike">
                <a:solidFill>
                  <a:srgbClr val="FFFFFF"/>
                </a:solidFill>
                <a:latin typeface="Calibri"/>
                <a:ea typeface="Calibri"/>
              </a:rPr>
              <a:t>Reproduce</a:t>
            </a:r>
            <a:endParaRPr lang="en-US" sz="135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4449161" name="Text 25"/>
          <p:cNvSpPr/>
          <p:nvPr/>
        </p:nvSpPr>
        <p:spPr bwMode="auto">
          <a:xfrm>
            <a:off x="9741960" y="3657600"/>
            <a:ext cx="173340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4999"/>
              </a:lnSpc>
              <a:tabLst>
                <a:tab pos="0" algn="l"/>
              </a:tabLst>
              <a:defRPr/>
            </a:pPr>
            <a:r>
              <a:rPr lang="en-US" sz="1100" b="0" u="none" strike="noStrike">
                <a:solidFill>
                  <a:srgbClr val="E4ECF5"/>
                </a:solidFill>
                <a:latin typeface="Calibri"/>
                <a:ea typeface="Calibri"/>
              </a:rPr>
              <a:t>Partner reproduces using only git + dvc + mamba, and logs a confirmation note.</a:t>
            </a:r>
            <a:endParaRPr lang="en-US" sz="11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0B1B3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106659" name="Shape 0"/>
          <p:cNvSpPr/>
          <p:nvPr/>
        </p:nvSpPr>
        <p:spPr bwMode="auto">
          <a:xfrm>
            <a:off x="-1371600" y="-1371600"/>
            <a:ext cx="4571640" cy="4571640"/>
          </a:xfrm>
          <a:prstGeom prst="ellipse">
            <a:avLst/>
          </a:prstGeom>
          <a:solidFill>
            <a:srgbClr val="065A82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defRPr/>
            </a:pPr>
            <a:endParaRPr lang="en-US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327745" name="Text 1"/>
          <p:cNvSpPr/>
          <p:nvPr/>
        </p:nvSpPr>
        <p:spPr bwMode="auto">
          <a:xfrm>
            <a:off x="822960" y="192024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1" u="none" strike="noStrike" spc="300">
                <a:solidFill>
                  <a:srgbClr val="5FD3C4"/>
                </a:solidFill>
                <a:latin typeface="Calibri"/>
                <a:ea typeface="Calibri"/>
              </a:rPr>
              <a:t>MODULE 1 — KEY TAKEAWAY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475809" name="Text 2"/>
          <p:cNvSpPr/>
          <p:nvPr/>
        </p:nvSpPr>
        <p:spPr bwMode="auto">
          <a:xfrm>
            <a:off x="822960" y="2377440"/>
            <a:ext cx="102409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3000" b="1" u="none" strike="noStrike">
                <a:solidFill>
                  <a:srgbClr val="FFFFFF"/>
                </a:solidFill>
                <a:latin typeface="Cambria"/>
                <a:ea typeface="Cambria"/>
              </a:rPr>
              <a:t>Reproducibility is not a tool — it's a protocol:</a:t>
            </a:r>
            <a:endParaRPr lang="en-US" sz="3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8161929" name="Text 3"/>
          <p:cNvSpPr/>
          <p:nvPr/>
        </p:nvSpPr>
        <p:spPr bwMode="auto">
          <a:xfrm>
            <a:off x="822960" y="32004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2000" b="1" u="none" strike="noStrike">
                <a:solidFill>
                  <a:srgbClr val="5FD3C4"/>
                </a:solidFill>
                <a:latin typeface="Calibri"/>
                <a:ea typeface="Calibri"/>
              </a:rPr>
              <a:t>Code (Git)  +  Environment (Conda/Mamba)  +  Data (DVC)  +  Run (MLflow)</a:t>
            </a:r>
            <a:endParaRPr lang="en-US" sz="20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800539" name="Text 4"/>
          <p:cNvSpPr/>
          <p:nvPr/>
        </p:nvSpPr>
        <p:spPr bwMode="auto">
          <a:xfrm>
            <a:off x="822960" y="4846320"/>
            <a:ext cx="960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n-US" sz="1400" b="0" i="1" u="none" strike="noStrike">
                <a:solidFill>
                  <a:srgbClr val="C9D8E8"/>
                </a:solidFill>
                <a:latin typeface="Calibri"/>
                <a:ea typeface="Calibri"/>
              </a:rPr>
              <a:t>Next up — Module 2: Distributed Computing for Data &amp; Models (Spark, Ray, Feast).</a:t>
            </a:r>
            <a:endParaRPr lang="en-US" sz="14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031367" name="Text 5"/>
          <p:cNvSpPr/>
          <p:nvPr/>
        </p:nvSpPr>
        <p:spPr bwMode="auto">
          <a:xfrm>
            <a:off x="11612880" y="649224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defRPr/>
            </a:pPr>
            <a:endParaRPr lang="en-US" sz="1000" b="0" u="none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26</Slides>
  <Notes>26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dc:language>en-US</dc:language>
  <cp:lastModifiedBy/>
  <cp:revision>4</cp:revision>
  <dcterms:created xsi:type="dcterms:W3CDTF">2026-08-02T10:33:49Z</dcterms:created>
  <dcterms:modified xsi:type="dcterms:W3CDTF">2026-08-02T12:22:04Z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26</vt:i4>
  </property>
  <property fmtid="{D5CDD505-2E9C-101B-9397-08002B2CF9AE}" pid="3" name="PresentationFormat">
    <vt:lpwstr>On-screen Show (16:9)</vt:lpwstr>
  </property>
  <property fmtid="{D5CDD505-2E9C-101B-9397-08002B2CF9AE}" pid="4" name="Slides">
    <vt:i4>26</vt:i4>
  </property>
</Properties>
</file>